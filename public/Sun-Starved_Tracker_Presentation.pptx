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5803D"/>
          </a:solidFill>
          <a:ln>
            <a:solidFill>
              <a:srgbClr val="1580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914400"/>
            <a:ext cx="3291840" cy="365760"/>
          </a:xfrm>
          <a:prstGeom prst="roundRect">
            <a:avLst/>
          </a:prstGeom>
          <a:solidFill>
            <a:srgbClr val="DCFCE7"/>
          </a:solidFill>
          <a:ln w="12700">
            <a:solidFill>
              <a:srgbClr val="1580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15803D"/>
                </a:solidFill>
                <a:latin typeface="Segoe UI"/>
              </a:defRPr>
            </a:pPr>
            <a:r>
              <a:t>SMART AGRICULTURE &amp; CLEAN ENERGY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463040"/>
            <a:ext cx="1069848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4400" b="1">
                <a:solidFill>
                  <a:srgbClr val="0F172A"/>
                </a:solidFill>
                <a:latin typeface="Segoe UI"/>
              </a:defRPr>
            </a:pPr>
            <a:r>
              <a:t>Sun-Starved Tracker</a:t>
            </a:r>
          </a:p>
          <a:p>
            <a:pPr>
              <a:defRPr sz="2400" b="1">
                <a:solidFill>
                  <a:srgbClr val="15803D"/>
                </a:solidFill>
                <a:latin typeface="Segoe UI"/>
              </a:defRPr>
            </a:pPr>
            <a:r>
              <a:t>Intelligent Agri-Voltaics Optimizer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2926080"/>
            <a:ext cx="10698480" cy="20116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0" tIns="274320" rIns="365760"/>
          <a:lstStyle/>
          <a:p>
            <a:pPr algn="ctr">
              <a:defRPr sz="1800" b="1">
                <a:solidFill>
                  <a:srgbClr val="0F172A"/>
                </a:solidFill>
                <a:latin typeface="Segoe UI"/>
              </a:defRPr>
            </a:pPr>
            <a:r>
              <a:t>Core Concept: The Perfect Dual-Harvest Harmony</a:t>
            </a:r>
          </a:p>
          <a:p>
            <a:pPr>
              <a:spcBef>
                <a:spcPts val="800"/>
              </a:spcBef>
              <a:defRPr sz="1400">
                <a:solidFill>
                  <a:srgbClr val="1E293B"/>
                </a:solidFill>
                <a:latin typeface="Segoe UI"/>
              </a:defRPr>
            </a:pPr>
            <a:r>
              <a:t>Sun-Starved Tracker is an AI-powered IoT platform that balances solar power generation with healthy crop growth beneath solar panels. By dynamically tilting panels using real-time crop light needs and weather forecasts, the system guarantees zero crop starvation while extracting peak solar energy.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5303520"/>
            <a:ext cx="2468880" cy="594360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0F172A"/>
                </a:solidFill>
                <a:latin typeface="Segoe UI"/>
              </a:defRPr>
            </a:pPr>
            <a:r>
              <a:t>🌱 Photosynthesis-Aware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474720" y="5303520"/>
            <a:ext cx="2468880" cy="594360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0F172A"/>
                </a:solidFill>
                <a:latin typeface="Segoe UI"/>
              </a:defRPr>
            </a:pPr>
            <a:r>
              <a:t>⚙️ Dual-Axis Kinematics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5303520"/>
            <a:ext cx="2468880" cy="594360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0F172A"/>
                </a:solidFill>
                <a:latin typeface="Segoe UI"/>
              </a:defRPr>
            </a:pPr>
            <a:r>
              <a:t>🔋 Smart Battery Storage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961120" y="5303520"/>
            <a:ext cx="2468880" cy="594360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0F172A"/>
                </a:solidFill>
                <a:latin typeface="Segoe UI"/>
              </a:defRPr>
            </a:pPr>
            <a:r>
              <a:t>📱 Multi-Language Mobile Ready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15803D"/>
                </a:solidFill>
                <a:latin typeface="Segoe UI"/>
              </a:defRPr>
            </a:pPr>
            <a:r>
              <a:t>THE CHALLENGE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777240"/>
            <a:ext cx="10698480" cy="6400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800" b="1">
                <a:solidFill>
                  <a:srgbClr val="0F172A"/>
                </a:solidFill>
                <a:latin typeface="Segoe UI"/>
              </a:defRPr>
            </a:pPr>
            <a:r>
              <a:t>The Conflict: Crop Sunlight vs. Solar Energy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10698480" cy="4114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400">
                <a:solidFill>
                  <a:srgbClr val="64748B"/>
                </a:solidFill>
                <a:latin typeface="Segoe UI"/>
              </a:defRPr>
            </a:pPr>
            <a:r>
              <a:t>Traditional static solar arrays create harsh tradeoffs on working farmlands.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2011680"/>
            <a:ext cx="5212080" cy="393192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1580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20040" rIns="320040" tIns="320040"/>
          <a:lstStyle/>
          <a:p>
            <a:pPr algn="ctr">
              <a:defRPr sz="2000" b="1">
                <a:solidFill>
                  <a:srgbClr val="15803D"/>
                </a:solidFill>
                <a:latin typeface="Segoe UI"/>
              </a:defRPr>
            </a:pPr>
            <a:r>
              <a:t>🌱 Crop Sunlight Needs</a:t>
            </a:r>
          </a:p>
          <a:p>
            <a:pPr>
              <a:spcBef>
                <a:spcPts val="1000"/>
              </a:spcBef>
              <a:defRPr sz="1250">
                <a:solidFill>
                  <a:srgbClr val="1E293B"/>
                </a:solidFill>
                <a:latin typeface="Segoe UI"/>
              </a:defRPr>
            </a:pPr>
            <a:r>
              <a:t>•  Sun-Starvation: Fixed solar panels cast permanent dark shadows, depriving crops of essential PAR light.</a:t>
            </a:r>
          </a:p>
          <a:p>
            <a:pPr>
              <a:spcBef>
                <a:spcPts val="1000"/>
              </a:spcBef>
              <a:defRPr sz="1250">
                <a:solidFill>
                  <a:srgbClr val="1E293B"/>
                </a:solidFill>
                <a:latin typeface="Segoe UI"/>
              </a:defRPr>
            </a:pPr>
            <a:r>
              <a:t>•  Stunted Growth: Insufficient sunlight drops crop yields by 30% to 50% for high-light crops like tomatoes.</a:t>
            </a:r>
          </a:p>
          <a:p>
            <a:pPr>
              <a:spcBef>
                <a:spcPts val="1000"/>
              </a:spcBef>
              <a:defRPr sz="1250">
                <a:solidFill>
                  <a:srgbClr val="1E293B"/>
                </a:solidFill>
                <a:latin typeface="Segoe UI"/>
              </a:defRPr>
            </a:pPr>
            <a:r>
              <a:t>•  Microclimate Issues: Excess trapped dampness under unmoving panels leads to severe leaf mold and root rot.</a:t>
            </a:r>
          </a:p>
          <a:p>
            <a:pPr>
              <a:spcBef>
                <a:spcPts val="1000"/>
              </a:spcBef>
              <a:defRPr sz="1250">
                <a:solidFill>
                  <a:srgbClr val="1E293B"/>
                </a:solidFill>
                <a:latin typeface="Segoe UI"/>
              </a:defRPr>
            </a:pPr>
            <a:r>
              <a:t>•  Farmer Reluctance: Farmers resist solar installations fearing food security and revenue loss.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0" y="2011680"/>
            <a:ext cx="5212080" cy="393192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20040" rIns="320040" tIns="320040"/>
          <a:lstStyle/>
          <a:p>
            <a:pPr algn="ctr">
              <a:defRPr sz="2000" b="1">
                <a:solidFill>
                  <a:srgbClr val="0F172A"/>
                </a:solidFill>
                <a:latin typeface="Segoe UI"/>
              </a:defRPr>
            </a:pPr>
            <a:r>
              <a:t>☀️ Solar Energy Demands</a:t>
            </a:r>
          </a:p>
          <a:p>
            <a:pPr>
              <a:spcBef>
                <a:spcPts val="1000"/>
              </a:spcBef>
              <a:defRPr sz="1250">
                <a:solidFill>
                  <a:srgbClr val="1E293B"/>
                </a:solidFill>
                <a:latin typeface="Segoe UI"/>
              </a:defRPr>
            </a:pPr>
            <a:r>
              <a:t>•  Sub-Optimal Angles: Fixed-tilt panels only capture peak power during a narrow mid-day window (25% lost energy).</a:t>
            </a:r>
          </a:p>
          <a:p>
            <a:pPr>
              <a:spcBef>
                <a:spcPts val="1000"/>
              </a:spcBef>
              <a:defRPr sz="1250">
                <a:solidFill>
                  <a:srgbClr val="1E293B"/>
                </a:solidFill>
                <a:latin typeface="Segoe UI"/>
              </a:defRPr>
            </a:pPr>
            <a:r>
              <a:t>•  Weather Vulnerability: Heavy hailstorms and severe wind gusts crack static glass and bend mounting brackets.</a:t>
            </a:r>
          </a:p>
          <a:p>
            <a:pPr>
              <a:spcBef>
                <a:spcPts val="1000"/>
              </a:spcBef>
              <a:defRPr sz="1250">
                <a:solidFill>
                  <a:srgbClr val="1E293B"/>
                </a:solidFill>
                <a:latin typeface="Segoe UI"/>
              </a:defRPr>
            </a:pPr>
            <a:r>
              <a:t>•  Land Competition: Large ground-mount solar plants lock up fertile agricultural soil for decades.</a:t>
            </a:r>
          </a:p>
          <a:p>
            <a:pPr>
              <a:spcBef>
                <a:spcPts val="1000"/>
              </a:spcBef>
              <a:defRPr sz="1250">
                <a:solidFill>
                  <a:srgbClr val="1E293B"/>
                </a:solidFill>
                <a:latin typeface="Segoe UI"/>
              </a:defRPr>
            </a:pPr>
            <a:r>
              <a:t>•  Grid Synchronization: Without smart local battery management, excess solar power is curtailed or wasted.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6126480"/>
            <a:ext cx="10698480" cy="438912"/>
          </a:xfrm>
          <a:prstGeom prst="roundRect">
            <a:avLst/>
          </a:prstGeom>
          <a:solidFill>
            <a:srgbClr val="F1F5F9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0F172A"/>
                </a:solidFill>
                <a:latin typeface="Segoe UI"/>
              </a:defRPr>
            </a:pPr>
            <a:r>
              <a:t>💡 The Core Dilemma: Agriculture needs open sunlight. Solar needs full exposure. How can we have both?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15803D"/>
                </a:solidFill>
                <a:latin typeface="Segoe UI"/>
              </a:defRPr>
            </a:pPr>
            <a:r>
              <a:t>INNOVATIVE SOLUTION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777240"/>
            <a:ext cx="10698480" cy="6400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800" b="1">
                <a:solidFill>
                  <a:srgbClr val="0F172A"/>
                </a:solidFill>
                <a:latin typeface="Segoe UI"/>
              </a:defRPr>
            </a:pPr>
            <a:r>
              <a:t>Sun-Starved Tracker: 4 Core Pillars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10698480" cy="4114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400">
                <a:solidFill>
                  <a:srgbClr val="64748B"/>
                </a:solidFill>
                <a:latin typeface="Segoe UI"/>
              </a:defRPr>
            </a:pPr>
            <a:r>
              <a:t>An intelligent, closed-loop agrivoltaic management ecosystem built for farmers.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920240"/>
            <a:ext cx="5212080" cy="20574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1580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74320" tIns="228600"/>
          <a:lstStyle/>
          <a:p>
            <a:pPr algn="ctr">
              <a:defRPr sz="1600" b="1">
                <a:solidFill>
                  <a:srgbClr val="15803D"/>
                </a:solidFill>
                <a:latin typeface="Segoe UI"/>
              </a:defRPr>
            </a:pPr>
            <a:r>
              <a:t>1. AI Crop Health &amp; Light Optimization</a:t>
            </a:r>
          </a:p>
          <a:p>
            <a:pPr>
              <a:spcBef>
                <a:spcPts val="600"/>
              </a:spcBef>
              <a:defRPr sz="1200">
                <a:solidFill>
                  <a:srgbClr val="1E293B"/>
                </a:solidFill>
                <a:latin typeface="Segoe UI"/>
              </a:defRPr>
            </a:pPr>
            <a:r>
              <a:t>Continuously measures PAR (Photosynthetically Active Radiation), canopy shade, and soil moisture. When crops are light-deficient, panels tilt away to allow filtered sunlight directly to root rows.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0" y="1920240"/>
            <a:ext cx="5212080" cy="20574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74320" tIns="228600"/>
          <a:lstStyle/>
          <a:p>
            <a:pPr algn="ctr">
              <a:defRPr sz="1600" b="1">
                <a:solidFill>
                  <a:srgbClr val="0F172A"/>
                </a:solidFill>
                <a:latin typeface="Segoe UI"/>
              </a:defRPr>
            </a:pPr>
            <a:r>
              <a:t>2. Dynamic Dual-Axis Kinematics</a:t>
            </a:r>
          </a:p>
          <a:p>
            <a:pPr>
              <a:spcBef>
                <a:spcPts val="600"/>
              </a:spcBef>
              <a:defRPr sz="1200">
                <a:solidFill>
                  <a:srgbClr val="1E293B"/>
                </a:solidFill>
                <a:latin typeface="Segoe UI"/>
              </a:defRPr>
            </a:pPr>
            <a:r>
              <a:t>Smart motor actuators adjust panel elevation (0°–75°) and azimuth. Maximizes clean kilowatt-hours when crops are saturated, and provides protective shade during scorching heatwaves.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4297680"/>
            <a:ext cx="5212080" cy="20574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74320" tIns="228600"/>
          <a:lstStyle/>
          <a:p>
            <a:pPr algn="ctr">
              <a:defRPr sz="1600" b="1">
                <a:solidFill>
                  <a:srgbClr val="0F172A"/>
                </a:solidFill>
                <a:latin typeface="Segoe UI"/>
              </a:defRPr>
            </a:pPr>
            <a:r>
              <a:t>3. Smart Battery &amp; Energy Management</a:t>
            </a:r>
          </a:p>
          <a:p>
            <a:pPr>
              <a:spcBef>
                <a:spcPts val="600"/>
              </a:spcBef>
              <a:defRPr sz="1200">
                <a:solidFill>
                  <a:srgbClr val="1E293B"/>
                </a:solidFill>
                <a:latin typeface="Segoe UI"/>
              </a:defRPr>
            </a:pPr>
            <a:r>
              <a:t>Monitors dual LiFePO4 battery banks (SoC, cell health, charging cycles). Balances farm pump consumption, on-site storage, and profitable grid export without power interruptions.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4297680"/>
            <a:ext cx="5212080" cy="20574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1580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74320" tIns="228600"/>
          <a:lstStyle/>
          <a:p>
            <a:pPr algn="ctr">
              <a:defRPr sz="1600" b="1">
                <a:solidFill>
                  <a:srgbClr val="15803D"/>
                </a:solidFill>
                <a:latin typeface="Segoe UI"/>
              </a:defRPr>
            </a:pPr>
            <a:r>
              <a:t>4. Automated Safety Stowing &amp; Alerts</a:t>
            </a:r>
          </a:p>
          <a:p>
            <a:pPr>
              <a:spcBef>
                <a:spcPts val="600"/>
              </a:spcBef>
              <a:defRPr sz="1200">
                <a:solidFill>
                  <a:srgbClr val="1E293B"/>
                </a:solidFill>
                <a:latin typeface="Segoe UI"/>
              </a:defRPr>
            </a:pPr>
            <a:r>
              <a:t>Autonomous storm response: stows flat at 0° during high winds to minimize drag (-86%), angles at 30° during rain for guided water harvesting, and sends instant SMS/voice alerts in 6 languages.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15803D"/>
                </a:solidFill>
                <a:latin typeface="Segoe UI"/>
              </a:defRPr>
            </a:pPr>
            <a:r>
              <a:t>HOW IT WORKS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777240"/>
            <a:ext cx="10698480" cy="6400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800" b="1">
                <a:solidFill>
                  <a:srgbClr val="0F172A"/>
                </a:solidFill>
                <a:latin typeface="Segoe UI"/>
              </a:defRPr>
            </a:pPr>
            <a:r>
              <a:t>Simple 4-Step Closed-Loop Flow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10698480" cy="4114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400">
                <a:solidFill>
                  <a:srgbClr val="64748B"/>
                </a:solidFill>
                <a:latin typeface="Segoe UI"/>
              </a:defRPr>
            </a:pPr>
            <a:r>
              <a:t>Automated sensing, AI intelligence, and precision mechanical actuation.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2011680"/>
            <a:ext cx="2468880" cy="384048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1580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274320"/>
          <a:lstStyle/>
          <a:p>
            <a:pPr algn="ctr">
              <a:defRPr sz="1100" b="1">
                <a:solidFill>
                  <a:srgbClr val="15803D"/>
                </a:solidFill>
                <a:latin typeface="Segoe UI"/>
              </a:defRPr>
            </a:pPr>
            <a:r>
              <a:t>STEP 1</a:t>
            </a:r>
          </a:p>
          <a:p>
            <a:pPr>
              <a:spcBef>
                <a:spcPts val="400"/>
              </a:spcBef>
              <a:defRPr sz="2000" b="1">
                <a:solidFill>
                  <a:srgbClr val="0F172A"/>
                </a:solidFill>
                <a:latin typeface="Segoe UI"/>
              </a:defRPr>
            </a:pPr>
            <a:r>
              <a:t>📡 Sense</a:t>
            </a:r>
          </a:p>
          <a:p>
            <a:pPr>
              <a:spcBef>
                <a:spcPts val="1400"/>
              </a:spcBef>
              <a:defRPr sz="1200">
                <a:solidFill>
                  <a:srgbClr val="1E293B"/>
                </a:solidFill>
                <a:latin typeface="Segoe UI"/>
              </a:defRPr>
            </a:pPr>
            <a:r>
              <a:t>Ground &amp; sky IoT sensors measure soil moisture, PAR sunlight, ambient temperature, battery SoC, and upcoming weather forecasts.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246120" y="3657600"/>
            <a:ext cx="228600" cy="36576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1800" b="1">
                <a:solidFill>
                  <a:srgbClr val="15803D"/>
                </a:solidFill>
                <a:latin typeface="Segoe UI"/>
              </a:defRPr>
            </a:pPr>
            <a:r>
              <a:t>➔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474720" y="2011680"/>
            <a:ext cx="2468880" cy="384048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274320"/>
          <a:lstStyle/>
          <a:p>
            <a:pPr algn="ctr">
              <a:defRPr sz="1100" b="1">
                <a:solidFill>
                  <a:srgbClr val="0F172A"/>
                </a:solidFill>
                <a:latin typeface="Segoe UI"/>
              </a:defRPr>
            </a:pPr>
            <a:r>
              <a:t>STEP 2</a:t>
            </a:r>
          </a:p>
          <a:p>
            <a:pPr>
              <a:spcBef>
                <a:spcPts val="400"/>
              </a:spcBef>
              <a:defRPr sz="2000" b="1">
                <a:solidFill>
                  <a:srgbClr val="0F172A"/>
                </a:solidFill>
                <a:latin typeface="Segoe UI"/>
              </a:defRPr>
            </a:pPr>
            <a:r>
              <a:t>🧠 Analyze</a:t>
            </a:r>
          </a:p>
          <a:p>
            <a:pPr>
              <a:spcBef>
                <a:spcPts val="1400"/>
              </a:spcBef>
              <a:defRPr sz="1200">
                <a:solidFill>
                  <a:srgbClr val="1E293B"/>
                </a:solidFill>
                <a:latin typeface="Segoe UI"/>
              </a:defRPr>
            </a:pPr>
            <a:r>
              <a:t>AI Optimizer calculates the real-time trade-off curve between crop photosynthesis requirements and peak solar power generation.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89320" y="3657600"/>
            <a:ext cx="228600" cy="36576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1800" b="1">
                <a:solidFill>
                  <a:srgbClr val="15803D"/>
                </a:solidFill>
                <a:latin typeface="Segoe UI"/>
              </a:defRPr>
            </a:pPr>
            <a:r>
              <a:t>➔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2011680"/>
            <a:ext cx="2468880" cy="384048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1580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274320"/>
          <a:lstStyle/>
          <a:p>
            <a:pPr algn="ctr">
              <a:defRPr sz="1100" b="1">
                <a:solidFill>
                  <a:srgbClr val="15803D"/>
                </a:solidFill>
                <a:latin typeface="Segoe UI"/>
              </a:defRPr>
            </a:pPr>
            <a:r>
              <a:t>STEP 3</a:t>
            </a:r>
          </a:p>
          <a:p>
            <a:pPr>
              <a:spcBef>
                <a:spcPts val="400"/>
              </a:spcBef>
              <a:defRPr sz="2000" b="1">
                <a:solidFill>
                  <a:srgbClr val="0F172A"/>
                </a:solidFill>
                <a:latin typeface="Segoe UI"/>
              </a:defRPr>
            </a:pPr>
            <a:r>
              <a:t>⚙️ Actuate</a:t>
            </a:r>
          </a:p>
          <a:p>
            <a:pPr>
              <a:spcBef>
                <a:spcPts val="1400"/>
              </a:spcBef>
              <a:defRPr sz="1200">
                <a:solidFill>
                  <a:srgbClr val="1E293B"/>
                </a:solidFill>
                <a:latin typeface="Segoe UI"/>
              </a:defRPr>
            </a:pPr>
            <a:r>
              <a:t>Quiet electric linear actuators tilt panels to the ideal elevation (e.g. 15° morning boost, 35° optimal track, or 0° storm stow).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732520" y="3657600"/>
            <a:ext cx="228600" cy="36576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1800" b="1">
                <a:solidFill>
                  <a:srgbClr val="15803D"/>
                </a:solidFill>
                <a:latin typeface="Segoe UI"/>
              </a:defRPr>
            </a:pPr>
            <a:r>
              <a:t>➔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961120" y="2011680"/>
            <a:ext cx="2468880" cy="384048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274320"/>
          <a:lstStyle/>
          <a:p>
            <a:pPr algn="ctr">
              <a:defRPr sz="1100" b="1">
                <a:solidFill>
                  <a:srgbClr val="0F172A"/>
                </a:solidFill>
                <a:latin typeface="Segoe UI"/>
              </a:defRPr>
            </a:pPr>
            <a:r>
              <a:t>STEP 4</a:t>
            </a:r>
          </a:p>
          <a:p>
            <a:pPr>
              <a:spcBef>
                <a:spcPts val="400"/>
              </a:spcBef>
              <a:defRPr sz="2000" b="1">
                <a:solidFill>
                  <a:srgbClr val="0F172A"/>
                </a:solidFill>
                <a:latin typeface="Segoe UI"/>
              </a:defRPr>
            </a:pPr>
            <a:r>
              <a:t>⚖️ Balance</a:t>
            </a:r>
          </a:p>
          <a:p>
            <a:pPr>
              <a:spcBef>
                <a:spcPts val="1400"/>
              </a:spcBef>
              <a:defRPr sz="1200">
                <a:solidFill>
                  <a:srgbClr val="1E293B"/>
                </a:solidFill>
                <a:latin typeface="Segoe UI"/>
              </a:defRPr>
            </a:pPr>
            <a:r>
              <a:t>Crops receive optimal sunlight to thrive, panels generate peak clean energy, and stored battery power runs farm irrigation.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31520" y="6080760"/>
            <a:ext cx="10698480" cy="457200"/>
          </a:xfrm>
          <a:prstGeom prst="roundRect">
            <a:avLst/>
          </a:prstGeom>
          <a:solidFill>
            <a:srgbClr val="DCFCE7"/>
          </a:solidFill>
          <a:ln w="12700">
            <a:solidFill>
              <a:srgbClr val="1580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15803D"/>
                </a:solidFill>
                <a:latin typeface="Segoe UI"/>
              </a:defRPr>
            </a:pPr>
            <a:r>
              <a:t>⚡ Fully Autonomous Closed Loop: Re-evaluates every 15 minutes without requiring farmer manual intervention.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15803D"/>
                </a:solidFill>
                <a:latin typeface="Segoe UI"/>
              </a:defRPr>
            </a:pPr>
            <a:r>
              <a:t>IMPACT &amp; VISION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777240"/>
            <a:ext cx="10698480" cy="6400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800" b="1">
                <a:solidFill>
                  <a:srgbClr val="0F172A"/>
                </a:solidFill>
                <a:latin typeface="Segoe UI"/>
              </a:defRPr>
            </a:pPr>
            <a:r>
              <a:t>Projected Impact &amp; Future Roadmap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10698480" cy="4114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400">
                <a:solidFill>
                  <a:srgbClr val="64748B"/>
                </a:solidFill>
                <a:latin typeface="Segoe UI"/>
              </a:defRPr>
            </a:pPr>
            <a:r>
              <a:t>Delivering tangible financial and environmental results for farming communities.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920240"/>
            <a:ext cx="3383280" cy="18288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1580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182880"/>
          <a:lstStyle/>
          <a:p>
            <a:pPr algn="ctr">
              <a:defRPr sz="2800" b="1">
                <a:solidFill>
                  <a:srgbClr val="15803D"/>
                </a:solidFill>
                <a:latin typeface="Segoe UI"/>
              </a:defRPr>
            </a:pPr>
            <a:r>
              <a:t>+35%</a:t>
            </a:r>
          </a:p>
          <a:p>
            <a:pPr>
              <a:defRPr sz="1300" b="1">
                <a:solidFill>
                  <a:srgbClr val="0F172A"/>
                </a:solidFill>
                <a:latin typeface="Segoe UI"/>
              </a:defRPr>
            </a:pPr>
            <a:r>
              <a:t>Higher Farmer Income</a:t>
            </a:r>
          </a:p>
          <a:p>
            <a:pPr>
              <a:spcBef>
                <a:spcPts val="400"/>
              </a:spcBef>
              <a:defRPr sz="1050">
                <a:solidFill>
                  <a:srgbClr val="64748B"/>
                </a:solidFill>
                <a:latin typeface="Segoe UI"/>
              </a:defRPr>
            </a:pPr>
            <a:r>
              <a:t>Dual revenue stream: agricultural harvest sales plus surplus electricity grid feed-in tariffs.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389120" y="1920240"/>
            <a:ext cx="3383280" cy="18288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182880"/>
          <a:lstStyle/>
          <a:p>
            <a:pPr algn="ctr">
              <a:defRPr sz="2800" b="1">
                <a:solidFill>
                  <a:srgbClr val="0F172A"/>
                </a:solidFill>
                <a:latin typeface="Segoe UI"/>
              </a:defRPr>
            </a:pPr>
            <a:r>
              <a:t>+40%</a:t>
            </a:r>
          </a:p>
          <a:p>
            <a:pPr>
              <a:defRPr sz="1300" b="1">
                <a:solidFill>
                  <a:srgbClr val="0F172A"/>
                </a:solidFill>
                <a:latin typeface="Segoe UI"/>
              </a:defRPr>
            </a:pPr>
            <a:r>
              <a:t>Water Savings</a:t>
            </a:r>
          </a:p>
          <a:p>
            <a:pPr>
              <a:spcBef>
                <a:spcPts val="400"/>
              </a:spcBef>
              <a:defRPr sz="1050">
                <a:solidFill>
                  <a:srgbClr val="64748B"/>
                </a:solidFill>
                <a:latin typeface="Segoe UI"/>
              </a:defRPr>
            </a:pPr>
            <a:r>
              <a:t>Controlled panel microclimate reduces soil moisture evaporation and scorching sun stress.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046720" y="1920240"/>
            <a:ext cx="3383280" cy="18288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1580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182880"/>
          <a:lstStyle/>
          <a:p>
            <a:pPr algn="ctr">
              <a:defRPr sz="2800" b="1">
                <a:solidFill>
                  <a:srgbClr val="15803D"/>
                </a:solidFill>
                <a:latin typeface="Segoe UI"/>
              </a:defRPr>
            </a:pPr>
            <a:r>
              <a:t>100%</a:t>
            </a:r>
          </a:p>
          <a:p>
            <a:pPr>
              <a:defRPr sz="1300" b="1">
                <a:solidFill>
                  <a:srgbClr val="0F172A"/>
                </a:solidFill>
                <a:latin typeface="Segoe UI"/>
              </a:defRPr>
            </a:pPr>
            <a:r>
              <a:t>Severe Storm Protection</a:t>
            </a:r>
          </a:p>
          <a:p>
            <a:pPr>
              <a:spcBef>
                <a:spcPts val="400"/>
              </a:spcBef>
              <a:defRPr sz="1050">
                <a:solidFill>
                  <a:srgbClr val="64748B"/>
                </a:solidFill>
                <a:latin typeface="Segoe UI"/>
              </a:defRPr>
            </a:pPr>
            <a:r>
              <a:t>Auto-stowing mechanism protects both expensive solar hardware and sensitive crop beds.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3931920"/>
            <a:ext cx="10698480" cy="16002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74320" tIns="182880"/>
          <a:lstStyle/>
          <a:p>
            <a:pPr algn="ctr">
              <a:defRPr sz="1500" b="1">
                <a:solidFill>
                  <a:srgbClr val="0F172A"/>
                </a:solidFill>
                <a:latin typeface="Segoe UI"/>
              </a:defRPr>
            </a:pPr>
            <a:r>
              <a:t>🚀 Future Roadmap</a:t>
            </a:r>
          </a:p>
          <a:p>
            <a:pPr>
              <a:spcBef>
                <a:spcPts val="300"/>
              </a:spcBef>
              <a:defRPr sz="1100">
                <a:solidFill>
                  <a:srgbClr val="1E293B"/>
                </a:solidFill>
                <a:latin typeface="Segoe UI"/>
              </a:defRPr>
            </a:pPr>
            <a:r>
              <a:t>• Drone Multispectral Integration: Real-time NDVI scanning for automated pest and chlorophyll detection.</a:t>
            </a:r>
          </a:p>
          <a:p>
            <a:pPr>
              <a:spcBef>
                <a:spcPts val="300"/>
              </a:spcBef>
              <a:defRPr sz="1100">
                <a:solidFill>
                  <a:srgbClr val="1E293B"/>
                </a:solidFill>
                <a:latin typeface="Segoe UI"/>
              </a:defRPr>
            </a:pPr>
            <a:r>
              <a:t>• Village Microgrid Sharing: Peer-to-peer decentralized solar battery sharing among neighboring farmers.</a:t>
            </a:r>
          </a:p>
          <a:p>
            <a:pPr>
              <a:spcBef>
                <a:spcPts val="300"/>
              </a:spcBef>
              <a:defRPr sz="1100">
                <a:solidFill>
                  <a:srgbClr val="1E293B"/>
                </a:solidFill>
                <a:latin typeface="Segoe UI"/>
              </a:defRPr>
            </a:pPr>
            <a:r>
              <a:t>• AI Yield Forecasting: Machine learning models predicting crop yield based on seasonal agrivoltaic microclimates.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5715000"/>
            <a:ext cx="10698480" cy="731520"/>
          </a:xfrm>
          <a:prstGeom prst="round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74320" tIns="137160"/>
          <a:lstStyle/>
          <a:p>
            <a:pPr algn="ctr">
              <a:defRPr sz="1600" b="1">
                <a:solidFill>
                  <a:srgbClr val="FFFFFF"/>
                </a:solidFill>
                <a:latin typeface="Segoe UI"/>
              </a:defRPr>
            </a:pPr>
            <a:r>
              <a:t>Thank You! Questions &amp; Live Demonstration</a:t>
            </a:r>
          </a:p>
          <a:p>
            <a:pPr algn="ctr">
              <a:defRPr sz="1000">
                <a:solidFill>
                  <a:srgbClr val="DCFCE7"/>
                </a:solidFill>
                <a:latin typeface="Segoe UI"/>
              </a:defRPr>
            </a:pPr>
            <a:r>
              <a:t>Live Web App: https://ayeshamundargi.github.io/sun-starved-tracker/  •  GitHub: github.com/ayeshamundargi/sun-starved-tracker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